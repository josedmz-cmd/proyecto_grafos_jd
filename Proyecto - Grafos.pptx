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Montserrat"/>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fe6b470e8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fe6b470e8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09992fe45_2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09992fe45_2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09992fe45_2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09992fe45_2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e09992fe45_2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e09992fe45_2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09992fe45_2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09992fe45_2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e2c9b17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e2c9b17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ee2c9b17a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ee2c9b17a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09992fe45_2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e09992fe45_2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e09992fe45_2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e09992fe45_2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e09992fe45_2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e09992fe45_2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09992fe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e09992fe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09992fe4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e09992fe4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e09992fe4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e09992fe4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e09992fe4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e09992fe4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Proyecto - Grafos</a:t>
            </a:r>
            <a:endParaRPr/>
          </a:p>
        </p:txBody>
      </p:sp>
      <p:sp>
        <p:nvSpPr>
          <p:cNvPr id="135" name="Google Shape;135;p13"/>
          <p:cNvSpPr txBox="1"/>
          <p:nvPr>
            <p:ph idx="1" type="subTitle"/>
          </p:nvPr>
        </p:nvSpPr>
        <p:spPr>
          <a:xfrm>
            <a:off x="311700" y="2834125"/>
            <a:ext cx="8520600" cy="1148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José Daniel Mora Zúñiga</a:t>
            </a:r>
            <a:endParaRPr/>
          </a:p>
          <a:p>
            <a:pPr indent="0" lvl="0" marL="0" rtl="0" algn="l">
              <a:spcBef>
                <a:spcPts val="0"/>
              </a:spcBef>
              <a:spcAft>
                <a:spcPts val="0"/>
              </a:spcAft>
              <a:buNone/>
            </a:pPr>
            <a:r>
              <a:rPr lang="es-419"/>
              <a:t>IC-2001 Estructuras de Datos - Prof. Mauricio Avilés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3000"/>
              <a:t>Introducción</a:t>
            </a:r>
            <a:endParaRPr b="1" sz="3000"/>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600"/>
              <a:t>El proyecto desarrollado consiste en un programa que genera y dibuja grafos no dirigidos usando rand para determinar la posición (x, y). Genera árboles de expansión usando funciones (que usan diferentes estructuras).</a:t>
            </a:r>
            <a:endParaRPr sz="1600"/>
          </a:p>
          <a:p>
            <a:pPr indent="0" lvl="0" marL="0" rtl="0" algn="l">
              <a:spcBef>
                <a:spcPts val="1200"/>
              </a:spcBef>
              <a:spcAft>
                <a:spcPts val="1200"/>
              </a:spcAft>
              <a:buNone/>
            </a:pPr>
            <a:r>
              <a:rPr lang="es-419" sz="1600"/>
              <a:t>El objetivo principal fue desarrollar una aplicación interactiva que permita generar grafos aleatorios y ejecutar algoritmos (DFS, BFS, Prim, Kruskal, Dijkstra), mostrando los resultados visualmente en una ventana SFML.</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Posibles subproblemas:</a:t>
            </a:r>
            <a:endParaRPr/>
          </a:p>
        </p:txBody>
      </p:sp>
      <p:sp>
        <p:nvSpPr>
          <p:cNvPr id="147" name="Google Shape;147;p15"/>
          <p:cNvSpPr txBox="1"/>
          <p:nvPr>
            <p:ph idx="4294967295"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29700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Representación del grafo</a:t>
            </a:r>
            <a:endParaRPr/>
          </a:p>
        </p:txBody>
      </p:sp>
      <p:sp>
        <p:nvSpPr>
          <p:cNvPr id="153" name="Google Shape;153;p16"/>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600"/>
              <a:t>Se necesita almacenar nodos con coordenadas (x, y) y arcos con peso, permitiendo generación aleatoria con parámetros configurables.</a:t>
            </a:r>
            <a:endParaRPr sz="1600"/>
          </a:p>
        </p:txBody>
      </p:sp>
      <p:sp>
        <p:nvSpPr>
          <p:cNvPr id="154" name="Google Shape;154;p16"/>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600"/>
              <a:t>Se deben implementar DFS, BFS, Prim, Kruskal y Dijkstra, cada uno con requisitos específicos de estructuras adicionales.</a:t>
            </a:r>
            <a:endParaRPr sz="1600"/>
          </a:p>
          <a:p>
            <a:pPr indent="0" lvl="0" marL="0" rtl="0" algn="l">
              <a:spcBef>
                <a:spcPts val="1200"/>
              </a:spcBef>
              <a:spcAft>
                <a:spcPts val="1200"/>
              </a:spcAft>
              <a:buNone/>
            </a:pPr>
            <a:r>
              <a:t/>
            </a:r>
            <a:endParaRPr/>
          </a:p>
        </p:txBody>
      </p:sp>
      <p:sp>
        <p:nvSpPr>
          <p:cNvPr id="155" name="Google Shape;155;p16"/>
          <p:cNvSpPr txBox="1"/>
          <p:nvPr>
            <p:ph type="title"/>
          </p:nvPr>
        </p:nvSpPr>
        <p:spPr>
          <a:xfrm>
            <a:off x="4942800" y="403200"/>
            <a:ext cx="29700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Implementación de los algoritmos</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1297500" y="393750"/>
            <a:ext cx="29700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sz="2060"/>
              <a:t>Interfaz gráfica interactiva con SFML</a:t>
            </a:r>
            <a:endParaRPr sz="2060"/>
          </a:p>
          <a:p>
            <a:pPr indent="0" lvl="0" marL="0" rtl="0" algn="l">
              <a:spcBef>
                <a:spcPts val="0"/>
              </a:spcBef>
              <a:spcAft>
                <a:spcPts val="0"/>
              </a:spcAft>
              <a:buSzPts val="990"/>
              <a:buNone/>
            </a:pPr>
            <a:r>
              <a:t/>
            </a:r>
            <a:endParaRPr sz="2160"/>
          </a:p>
        </p:txBody>
      </p:sp>
      <p:sp>
        <p:nvSpPr>
          <p:cNvPr id="161" name="Google Shape;161;p17"/>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600"/>
              <a:t>Se debe dibujar el grafo, resaltar resultados, capturar clics para seleccionar nodos y (decidí que) el programa debe responder a teclas para ejecutar algoritmos.</a:t>
            </a:r>
            <a:endParaRPr sz="1600"/>
          </a:p>
        </p:txBody>
      </p:sp>
      <p:sp>
        <p:nvSpPr>
          <p:cNvPr id="162" name="Google Shape;162;p17"/>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600"/>
              <a:t>Se deben liberar correctamente todos los objetos creados dinámicamente, especialmente los grafos devueltos por los algoritmos.</a:t>
            </a:r>
            <a:endParaRPr sz="1600"/>
          </a:p>
        </p:txBody>
      </p:sp>
      <p:sp>
        <p:nvSpPr>
          <p:cNvPr id="163" name="Google Shape;163;p17"/>
          <p:cNvSpPr txBox="1"/>
          <p:nvPr>
            <p:ph type="title"/>
          </p:nvPr>
        </p:nvSpPr>
        <p:spPr>
          <a:xfrm>
            <a:off x="4942800" y="403200"/>
            <a:ext cx="29700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sz="1960"/>
              <a:t>Manejo de memoria y prevención de fugas</a:t>
            </a:r>
            <a:endParaRPr sz="1960"/>
          </a:p>
          <a:p>
            <a:pPr indent="0" lvl="0" marL="0" rtl="0" algn="l">
              <a:spcBef>
                <a:spcPts val="0"/>
              </a:spcBef>
              <a:spcAft>
                <a:spcPts val="0"/>
              </a:spcAft>
              <a:buSzPts val="990"/>
              <a:buNone/>
            </a:pPr>
            <a:r>
              <a:t/>
            </a:r>
            <a:endParaRPr sz="216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8"/>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Metodología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1297500" y="393750"/>
            <a:ext cx="29700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Representación del grafo</a:t>
            </a:r>
            <a:endParaRPr/>
          </a:p>
        </p:txBody>
      </p:sp>
      <p:sp>
        <p:nvSpPr>
          <p:cNvPr id="174" name="Google Shape;174;p19"/>
          <p:cNvSpPr txBox="1"/>
          <p:nvPr>
            <p:ph idx="1" type="body"/>
          </p:nvPr>
        </p:nvSpPr>
        <p:spPr>
          <a:xfrm>
            <a:off x="399425" y="1567500"/>
            <a:ext cx="4301100" cy="3379500"/>
          </a:xfrm>
          <a:prstGeom prst="rect">
            <a:avLst/>
          </a:prstGeom>
        </p:spPr>
        <p:txBody>
          <a:bodyPr anchorCtr="0" anchor="t" bIns="91425" lIns="91425" spcFirstLastPara="1" rIns="91425" wrap="square" tIns="91425">
            <a:normAutofit fontScale="77500"/>
          </a:bodyPr>
          <a:lstStyle/>
          <a:p>
            <a:pPr indent="0" lvl="0" marL="0" rtl="0" algn="l">
              <a:lnSpc>
                <a:spcPct val="115000"/>
              </a:lnSpc>
              <a:spcBef>
                <a:spcPts val="0"/>
              </a:spcBef>
              <a:spcAft>
                <a:spcPts val="0"/>
              </a:spcAft>
              <a:buNone/>
            </a:pPr>
            <a:r>
              <a:rPr lang="es-419" sz="1600"/>
              <a:t>La clase Nodo contiene x,y id y operadores de comparación por id. La clase Arco contiene origen, destino, peso y operadores de comparación por peso para usar en heap. En ambas se sobrecarga el </a:t>
            </a:r>
            <a:r>
              <a:rPr lang="es-419" sz="1600"/>
              <a:t>operador</a:t>
            </a:r>
            <a:r>
              <a:rPr lang="es-419" sz="1600"/>
              <a:t>&lt;&lt; para la depuración.</a:t>
            </a:r>
            <a:endParaRPr sz="1600"/>
          </a:p>
          <a:p>
            <a:pPr indent="0" lvl="0" marL="0" rtl="0" algn="l">
              <a:lnSpc>
                <a:spcPct val="115000"/>
              </a:lnSpc>
              <a:spcBef>
                <a:spcPts val="1200"/>
              </a:spcBef>
              <a:spcAft>
                <a:spcPts val="1200"/>
              </a:spcAft>
              <a:buNone/>
            </a:pPr>
            <a:r>
              <a:rPr lang="es-419" sz="1600"/>
              <a:t>La clase Grafo contiene dos listas: DLinkedList&lt;Nodo&gt; y DLinkedList&lt;Arco&gt;. En la generación aleatoria el constructor recibe numNodos, distanciaMaxima, maxConexionesPorNodo, ancho y alto. Se generan los nodos con rand() en posiciones aleatorias dentro de la ventana y se conectan con conectarNodosCercanos(), calculando la distancia al cuadrado entre cada par de nodos. Si la distancia &lt;= distanciaMaxima^2 y ambos nodos tienen </a:t>
            </a:r>
            <a:r>
              <a:rPr lang="es-419" sz="1600"/>
              <a:t>grado </a:t>
            </a:r>
            <a:r>
              <a:rPr lang="es-419" sz="1600"/>
              <a:t>&lt; maxConexionesPorNodo, se agrega el arco. Se mantiene un arreglo llamado grado[] para controlar el límite. </a:t>
            </a:r>
            <a:endParaRPr sz="1600"/>
          </a:p>
        </p:txBody>
      </p:sp>
      <p:sp>
        <p:nvSpPr>
          <p:cNvPr id="175" name="Google Shape;175;p19"/>
          <p:cNvSpPr txBox="1"/>
          <p:nvPr>
            <p:ph idx="2" type="body"/>
          </p:nvPr>
        </p:nvSpPr>
        <p:spPr>
          <a:xfrm>
            <a:off x="4933225" y="1567550"/>
            <a:ext cx="4023300" cy="3379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440"/>
              <a:buNone/>
            </a:pPr>
            <a:r>
              <a:rPr lang="es-419" sz="840"/>
              <a:t>DFS (Profundidad): Recibe nodo inicial. Usa LinkedStack&lt;int&gt; para manejar el recorrido. Marca visitado[] booleano. Al encontrar un vecino no visitado, se agrega el arco al resultado y se apila el vecino. Resultado: Grafo* con los nodos originales y los arcos del árbol DFS.</a:t>
            </a:r>
            <a:endParaRPr sz="840"/>
          </a:p>
          <a:p>
            <a:pPr indent="0" lvl="0" marL="0" rtl="0" algn="l">
              <a:lnSpc>
                <a:spcPct val="115000"/>
              </a:lnSpc>
              <a:spcBef>
                <a:spcPts val="1200"/>
              </a:spcBef>
              <a:spcAft>
                <a:spcPts val="0"/>
              </a:spcAft>
              <a:buSzPts val="440"/>
              <a:buNone/>
            </a:pPr>
            <a:r>
              <a:rPr lang="es-419" sz="840"/>
              <a:t>BFS (Anchura): Similar a DFS pero usando LinkedQueue&lt;int&gt;. Se encola el nodo inicial y se procesa en orden FIFO. </a:t>
            </a:r>
            <a:endParaRPr sz="840"/>
          </a:p>
          <a:p>
            <a:pPr indent="0" lvl="0" marL="0" rtl="0" algn="l">
              <a:lnSpc>
                <a:spcPct val="115000"/>
              </a:lnSpc>
              <a:spcBef>
                <a:spcPts val="1200"/>
              </a:spcBef>
              <a:spcAft>
                <a:spcPts val="0"/>
              </a:spcAft>
              <a:buSzPts val="440"/>
              <a:buNone/>
            </a:pPr>
            <a:r>
              <a:rPr lang="es-419" sz="840"/>
              <a:t>Prim (Árbol de expansión mínima): Se usa HeapPriorityQueue&lt;Pair&lt;int, float&gt;&gt; para extraer el arco de menor peso que conecta un nodo en el árbol con uno fuera. Arreglos dist[] (peso mínimo para conectar cada nodo) y padre[]. Se actualizan distancias al explorar vecinos y se insertan en la cola.</a:t>
            </a:r>
            <a:endParaRPr sz="840"/>
          </a:p>
          <a:p>
            <a:pPr indent="0" lvl="0" marL="0" rtl="0" algn="l">
              <a:lnSpc>
                <a:spcPct val="115000"/>
              </a:lnSpc>
              <a:spcBef>
                <a:spcPts val="1200"/>
              </a:spcBef>
              <a:spcAft>
                <a:spcPts val="0"/>
              </a:spcAft>
              <a:buSzPts val="440"/>
              <a:buNone/>
            </a:pPr>
            <a:r>
              <a:rPr lang="es-419" sz="840"/>
              <a:t>Kruskal (Bosque de árboles mínimos): Se ordenan todos los arcos por peso usando HeapPriorityQueue&lt;Arco&gt;. Se utiliza FindUnion para encontrar y mantener conjuntos. Se extrae cada arco; si sus extremos están en conjuntos diferentes, se une y se agrega al resultado.</a:t>
            </a:r>
            <a:endParaRPr sz="840"/>
          </a:p>
          <a:p>
            <a:pPr indent="0" lvl="0" marL="0" rtl="0" algn="l">
              <a:lnSpc>
                <a:spcPct val="115000"/>
              </a:lnSpc>
              <a:spcBef>
                <a:spcPts val="1200"/>
              </a:spcBef>
              <a:spcAft>
                <a:spcPts val="1200"/>
              </a:spcAft>
              <a:buSzPts val="440"/>
              <a:buNone/>
            </a:pPr>
            <a:r>
              <a:rPr lang="es-419" sz="840"/>
              <a:t>Dijkstra (Ruta más corta): Similar a Prim pero con acumulación de distancias (dist[u] + peso). Arreglos son dist[], prev[] y definitivo[]. Cuando se alcanza el destino, se reconstruye la ruta usando prev. Si no hay camino, retorna nullptr.</a:t>
            </a:r>
            <a:endParaRPr sz="720"/>
          </a:p>
        </p:txBody>
      </p:sp>
      <p:sp>
        <p:nvSpPr>
          <p:cNvPr id="176" name="Google Shape;176;p19"/>
          <p:cNvSpPr txBox="1"/>
          <p:nvPr>
            <p:ph type="title"/>
          </p:nvPr>
        </p:nvSpPr>
        <p:spPr>
          <a:xfrm>
            <a:off x="4942800" y="403200"/>
            <a:ext cx="29700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Implementación de los algoritmos</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0"/>
          <p:cNvSpPr txBox="1"/>
          <p:nvPr>
            <p:ph type="title"/>
          </p:nvPr>
        </p:nvSpPr>
        <p:spPr>
          <a:xfrm>
            <a:off x="1297500" y="393750"/>
            <a:ext cx="29700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sz="2060"/>
              <a:t>Interfaz gráfica interactiva con SFML</a:t>
            </a:r>
            <a:endParaRPr sz="2060"/>
          </a:p>
          <a:p>
            <a:pPr indent="0" lvl="0" marL="0" rtl="0" algn="l">
              <a:spcBef>
                <a:spcPts val="0"/>
              </a:spcBef>
              <a:spcAft>
                <a:spcPts val="0"/>
              </a:spcAft>
              <a:buSzPts val="990"/>
              <a:buNone/>
            </a:pPr>
            <a:r>
              <a:t/>
            </a:r>
            <a:endParaRPr sz="2160"/>
          </a:p>
        </p:txBody>
      </p:sp>
      <p:sp>
        <p:nvSpPr>
          <p:cNvPr id="182" name="Google Shape;182;p20"/>
          <p:cNvSpPr txBox="1"/>
          <p:nvPr>
            <p:ph idx="1" type="body"/>
          </p:nvPr>
        </p:nvSpPr>
        <p:spPr>
          <a:xfrm>
            <a:off x="263950" y="1567550"/>
            <a:ext cx="4436700" cy="33441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s-419" sz="1600"/>
              <a:t>Al dibujar el grafo, se usa sf::VertexArray para dibujar líneas (arcos) de manera eficiente. Primero se dibujan todos los arcos normales en color. Si hay un resaltado, se dibujan sus arcos encima en rojo. Los nodos son círculos con su ID como texto. Se cargan indicadores de selección: círculo verde (inicio) y rojo (destino) alrededor del nodo (Para Dijkstra). Captura de eventos en main: Clic izquierdo: calcula distancia al cuadrado desde el clic a cada nodo; selecciona el más cercano si está dentro del radio. Clic derecho: igual pero para el nodo destino.  Teclas numéricas (0-5): </a:t>
            </a:r>
            <a:endParaRPr sz="1600"/>
          </a:p>
          <a:p>
            <a:pPr indent="-292100" lvl="0" marL="457200" rtl="0" algn="l">
              <a:spcBef>
                <a:spcPts val="1200"/>
              </a:spcBef>
              <a:spcAft>
                <a:spcPts val="0"/>
              </a:spcAft>
              <a:buSzPct val="100000"/>
              <a:buAutoNum type="alphaUcPeriod"/>
            </a:pPr>
            <a:r>
              <a:rPr lang="es-419" sz="1600"/>
              <a:t>0: genera nuevo grafo (borra el anterior y el resaltado).</a:t>
            </a:r>
            <a:endParaRPr sz="1600"/>
          </a:p>
          <a:p>
            <a:pPr indent="-292100" lvl="0" marL="457200" rtl="0" algn="l">
              <a:spcBef>
                <a:spcPts val="0"/>
              </a:spcBef>
              <a:spcAft>
                <a:spcPts val="0"/>
              </a:spcAft>
              <a:buSzPct val="100000"/>
              <a:buAutoNum type="alphaUcPeriod"/>
            </a:pPr>
            <a:r>
              <a:rPr lang="es-419" sz="1600"/>
              <a:t>1 a 5: ejecutan el algoritmo correspondiente si los nodos necesarios están seleccionados.</a:t>
            </a:r>
            <a:endParaRPr sz="1600"/>
          </a:p>
          <a:p>
            <a:pPr indent="0" lvl="0" marL="0" rtl="0" algn="l">
              <a:spcBef>
                <a:spcPts val="1200"/>
              </a:spcBef>
              <a:spcAft>
                <a:spcPts val="0"/>
              </a:spcAft>
              <a:buNone/>
            </a:pPr>
            <a:r>
              <a:rPr lang="es-419" sz="1600"/>
              <a:t>Mensajes: se muestra información de selección en la esquina superior izquierda y "No hay conexión" si Dijkstra falla. </a:t>
            </a:r>
            <a:endParaRPr sz="1600"/>
          </a:p>
          <a:p>
            <a:pPr indent="0" lvl="0" marL="0" rtl="0" algn="l">
              <a:spcBef>
                <a:spcPts val="1200"/>
              </a:spcBef>
              <a:spcAft>
                <a:spcPts val="0"/>
              </a:spcAft>
              <a:buNone/>
            </a:pPr>
            <a:r>
              <a:rPr lang="es-419" sz="1600"/>
              <a:t>Ciclo principal: window.clear(), dibujar, window.display(). </a:t>
            </a:r>
            <a:endParaRPr sz="1600"/>
          </a:p>
          <a:p>
            <a:pPr indent="0" lvl="0" marL="0" rtl="0" algn="l">
              <a:spcBef>
                <a:spcPts val="1200"/>
              </a:spcBef>
              <a:spcAft>
                <a:spcPts val="1200"/>
              </a:spcAft>
              <a:buNone/>
            </a:pPr>
            <a:r>
              <a:rPr lang="es-419" sz="1600"/>
              <a:t>Se usa SFML 2.6.2 con la configuración de enlace adecuada (bibliotecas y DLLs).</a:t>
            </a:r>
            <a:endParaRPr sz="1600"/>
          </a:p>
        </p:txBody>
      </p:sp>
      <p:sp>
        <p:nvSpPr>
          <p:cNvPr id="183" name="Google Shape;183;p20"/>
          <p:cNvSpPr txBox="1"/>
          <p:nvPr>
            <p:ph idx="2" type="body"/>
          </p:nvPr>
        </p:nvSpPr>
        <p:spPr>
          <a:xfrm>
            <a:off x="4933225" y="1567550"/>
            <a:ext cx="3849900" cy="33441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s-419" sz="1600"/>
              <a:t>La variable grafoActual es propietario del grafo principal. La variable </a:t>
            </a:r>
            <a:r>
              <a:rPr lang="es-419" sz="1600"/>
              <a:t>r</a:t>
            </a:r>
            <a:r>
              <a:rPr lang="es-419" sz="1600"/>
              <a:t>esaltado es propietario del resultado del último algoritmo. En cada ejecución de algoritmo, se hace delete resaltado antes de asignar el nuevo. Al generar un nuevo grafo (tecla 0), se eliminan ambos.</a:t>
            </a:r>
            <a:endParaRPr sz="1600"/>
          </a:p>
          <a:p>
            <a:pPr indent="0" lvl="0" marL="0" rtl="0" algn="l">
              <a:spcBef>
                <a:spcPts val="1200"/>
              </a:spcBef>
              <a:spcAft>
                <a:spcPts val="0"/>
              </a:spcAft>
              <a:buNone/>
            </a:pPr>
            <a:r>
              <a:rPr lang="es-419" sz="1600"/>
              <a:t>Destructores: Grafo::~Grafo() no necesita hacer nada porque las listas (DLinkedList) liberan sus nodos en sus destructores. Las listas liberan los nodos uno a uno en clear() y luego eliminan los centinelas. Las colas/pilas/heaps liberan su memoria en sus destructores. </a:t>
            </a:r>
            <a:endParaRPr sz="1600"/>
          </a:p>
          <a:p>
            <a:pPr indent="0" lvl="0" marL="0" rtl="0" algn="l">
              <a:spcBef>
                <a:spcPts val="1200"/>
              </a:spcBef>
              <a:spcAft>
                <a:spcPts val="1200"/>
              </a:spcAft>
              <a:buNone/>
            </a:pPr>
            <a:r>
              <a:rPr lang="es-419" sz="1600"/>
              <a:t>Prevención de fugas en algoritmos: Se usa new para crear el grafo resultado, pero se transfiere la propiedad al llamador, que lo eliminará. No se crean objetos temporales sin liberar.</a:t>
            </a:r>
            <a:endParaRPr sz="1600"/>
          </a:p>
        </p:txBody>
      </p:sp>
      <p:sp>
        <p:nvSpPr>
          <p:cNvPr id="184" name="Google Shape;184;p20"/>
          <p:cNvSpPr txBox="1"/>
          <p:nvPr>
            <p:ph type="title"/>
          </p:nvPr>
        </p:nvSpPr>
        <p:spPr>
          <a:xfrm>
            <a:off x="4942800" y="403200"/>
            <a:ext cx="29700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419" sz="1960"/>
              <a:t>Manejo de memoria y prevención de fugas</a:t>
            </a:r>
            <a:endParaRPr sz="1960"/>
          </a:p>
          <a:p>
            <a:pPr indent="0" lvl="0" marL="0" rtl="0" algn="l">
              <a:spcBef>
                <a:spcPts val="0"/>
              </a:spcBef>
              <a:spcAft>
                <a:spcPts val="0"/>
              </a:spcAft>
              <a:buSzPts val="990"/>
              <a:buNone/>
            </a:pPr>
            <a:r>
              <a:t/>
            </a:r>
            <a:endParaRPr sz="216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Análisis crítico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¿Qué se logró implementar? </a:t>
            </a:r>
            <a:endParaRPr/>
          </a:p>
        </p:txBody>
      </p:sp>
      <p:sp>
        <p:nvSpPr>
          <p:cNvPr id="195" name="Google Shape;195;p22"/>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2420" lvl="0" marL="457200" rtl="0" algn="l">
              <a:lnSpc>
                <a:spcPct val="100000"/>
              </a:lnSpc>
              <a:spcBef>
                <a:spcPts val="0"/>
              </a:spcBef>
              <a:spcAft>
                <a:spcPts val="0"/>
              </a:spcAft>
              <a:buSzPts val="1320"/>
              <a:buChar char="●"/>
            </a:pPr>
            <a:r>
              <a:rPr lang="es-419" sz="1320"/>
              <a:t>Todos los algoritmos requeridos funcionan correctamente en grafos conectados y desconectados.</a:t>
            </a:r>
            <a:endParaRPr sz="1320"/>
          </a:p>
          <a:p>
            <a:pPr indent="-312420" lvl="0" marL="457200" rtl="0" algn="l">
              <a:lnSpc>
                <a:spcPct val="100000"/>
              </a:lnSpc>
              <a:spcBef>
                <a:spcPts val="0"/>
              </a:spcBef>
              <a:spcAft>
                <a:spcPts val="0"/>
              </a:spcAft>
              <a:buSzPts val="1320"/>
              <a:buChar char="●"/>
            </a:pPr>
            <a:r>
              <a:rPr lang="es-419" sz="1320"/>
              <a:t>La generación de grafos es configurable y eficiente.</a:t>
            </a:r>
            <a:endParaRPr sz="1320"/>
          </a:p>
          <a:p>
            <a:pPr indent="-312420" lvl="0" marL="457200" rtl="0" algn="l">
              <a:lnSpc>
                <a:spcPct val="100000"/>
              </a:lnSpc>
              <a:spcBef>
                <a:spcPts val="0"/>
              </a:spcBef>
              <a:spcAft>
                <a:spcPts val="0"/>
              </a:spcAft>
              <a:buSzPts val="1320"/>
              <a:buChar char="●"/>
            </a:pPr>
            <a:r>
              <a:rPr lang="es-419" sz="1320"/>
              <a:t>La interfaz permite seleccionar nodos y ejecutar algoritmos con retroalimentación visual clara.</a:t>
            </a:r>
            <a:endParaRPr sz="1320"/>
          </a:p>
          <a:p>
            <a:pPr indent="-312420" lvl="0" marL="457200" rtl="0" algn="l">
              <a:lnSpc>
                <a:spcPct val="100000"/>
              </a:lnSpc>
              <a:spcBef>
                <a:spcPts val="0"/>
              </a:spcBef>
              <a:spcAft>
                <a:spcPts val="0"/>
              </a:spcAft>
              <a:buSzPts val="1320"/>
              <a:buChar char="●"/>
            </a:pPr>
            <a:r>
              <a:rPr lang="es-419" sz="1320"/>
              <a:t>Manejo de memoria con new/delete controlado.</a:t>
            </a:r>
            <a:endParaRPr sz="132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¿Qué faltó implementar?</a:t>
            </a:r>
            <a:endParaRPr/>
          </a:p>
        </p:txBody>
      </p:sp>
      <p:sp>
        <p:nvSpPr>
          <p:cNvPr id="201" name="Google Shape;201;p2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s-419" sz="1600"/>
              <a:t>No se implementó una animación paso a paso (solo se muestra el resultado final).</a:t>
            </a:r>
            <a:endParaRPr sz="1600"/>
          </a:p>
          <a:p>
            <a:pPr indent="-311150" lvl="0" marL="457200" rtl="0" algn="l">
              <a:spcBef>
                <a:spcPts val="0"/>
              </a:spcBef>
              <a:spcAft>
                <a:spcPts val="0"/>
              </a:spcAft>
              <a:buSzPts val="1300"/>
              <a:buChar char="●"/>
            </a:pPr>
            <a:r>
              <a:rPr lang="es-419" sz="1600"/>
              <a:t>No se dibujan las etiquetas de los arcos.</a:t>
            </a:r>
            <a:endParaRPr sz="1600"/>
          </a:p>
          <a:p>
            <a:pPr indent="-311150" lvl="0" marL="457200" rtl="0" algn="l">
              <a:spcBef>
                <a:spcPts val="0"/>
              </a:spcBef>
              <a:spcAft>
                <a:spcPts val="0"/>
              </a:spcAft>
              <a:buSzPts val="1300"/>
              <a:buChar char="●"/>
            </a:pPr>
            <a:r>
              <a:rPr lang="es-419" sz="1600"/>
              <a:t>Dijkstra solo muestra la ruta, no el árbol de distancias.</a:t>
            </a:r>
            <a:endParaRPr sz="1600"/>
          </a:p>
          <a:p>
            <a:pPr indent="-311150" lvl="0" marL="457200" rtl="0" algn="l">
              <a:spcBef>
                <a:spcPts val="0"/>
              </a:spcBef>
              <a:spcAft>
                <a:spcPts val="0"/>
              </a:spcAft>
              <a:buSzPts val="1300"/>
              <a:buChar char="●"/>
            </a:pPr>
            <a:r>
              <a:rPr lang="es-419" sz="1600"/>
              <a:t>No se guarda el historial de grafos generados.</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Conclusiones</a:t>
            </a:r>
            <a:endParaRPr/>
          </a:p>
        </p:txBody>
      </p:sp>
      <p:sp>
        <p:nvSpPr>
          <p:cNvPr id="207" name="Google Shape;207;p2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uso de distancias al cuadrado como peso de arcos mejora el rendimiento.</a:t>
            </a:r>
            <a:endParaRPr/>
          </a:p>
          <a:p>
            <a:pPr indent="0" lvl="0" marL="0" rtl="0" algn="l">
              <a:spcBef>
                <a:spcPts val="1200"/>
              </a:spcBef>
              <a:spcAft>
                <a:spcPts val="0"/>
              </a:spcAft>
              <a:buNone/>
            </a:pPr>
            <a:r>
              <a:rPr lang="es-419"/>
              <a:t>La generación aleatoria con control de cantidad de conexiones máximas evita grafos saturados o excesivamente dispersos, garantizando variedad y control.</a:t>
            </a:r>
            <a:endParaRPr/>
          </a:p>
          <a:p>
            <a:pPr indent="0" lvl="0" marL="0" rtl="0" algn="l">
              <a:spcBef>
                <a:spcPts val="1200"/>
              </a:spcBef>
              <a:spcAft>
                <a:spcPts val="0"/>
              </a:spcAft>
              <a:buNone/>
            </a:pPr>
            <a:r>
              <a:rPr lang="es-419"/>
              <a:t>Devolver un nuevo objeto Grafo para cada algoritmo mantiene el grafo original inmutable y simplifica la gestión de memoria.</a:t>
            </a:r>
            <a:endParaRPr/>
          </a:p>
          <a:p>
            <a:pPr indent="0" lvl="0" marL="0" rtl="0" algn="l">
              <a:spcBef>
                <a:spcPts val="1200"/>
              </a:spcBef>
              <a:spcAft>
                <a:spcPts val="0"/>
              </a:spcAft>
              <a:buNone/>
            </a:pPr>
            <a:r>
              <a:rPr lang="es-419"/>
              <a:t>La cola de prioridad basada en heap mínimo es fundamental para Prim, Kruskal y Dijkstra.</a:t>
            </a:r>
            <a:endParaRPr/>
          </a:p>
          <a:p>
            <a:pPr indent="0" lvl="0" marL="0" rtl="0" algn="l">
              <a:spcBef>
                <a:spcPts val="1200"/>
              </a:spcBef>
              <a:spcAft>
                <a:spcPts val="1200"/>
              </a:spcAft>
              <a:buNone/>
            </a:pPr>
            <a:r>
              <a:rPr lang="es-419"/>
              <a:t>Usando FindUnion, se evita tener recorrer el árbol parcial para cada arco y/o usar una matriz de adyacencia.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Conclusiones</a:t>
            </a:r>
            <a:endParaRPr/>
          </a:p>
        </p:txBody>
      </p:sp>
      <p:sp>
        <p:nvSpPr>
          <p:cNvPr id="213" name="Google Shape;213;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El uso de SFML para la visualización </a:t>
            </a:r>
            <a:r>
              <a:rPr lang="es-419"/>
              <a:t>permite una interacción fluida, pero </a:t>
            </a:r>
            <a:r>
              <a:rPr lang="es-419"/>
              <a:t>requiere manejar cuidadosamente el ciclo de eventos y el dibujo para evitar parpadeos, retrasos o consumo excesivo de CPU.</a:t>
            </a:r>
            <a:endParaRPr/>
          </a:p>
          <a:p>
            <a:pPr indent="0" lvl="0" marL="0" rtl="0" algn="l">
              <a:spcBef>
                <a:spcPts val="1200"/>
              </a:spcBef>
              <a:spcAft>
                <a:spcPts val="0"/>
              </a:spcAft>
              <a:buNone/>
            </a:pPr>
            <a:r>
              <a:rPr lang="es-419"/>
              <a:t>La detección de clics con radio fijo es imprecisa para nodos de diferente tamaño o cuando se acerca/aleja el zoom.</a:t>
            </a:r>
            <a:endParaRPr/>
          </a:p>
          <a:p>
            <a:pPr indent="0" lvl="0" marL="0" rtl="0" algn="l">
              <a:spcBef>
                <a:spcPts val="1200"/>
              </a:spcBef>
              <a:spcAft>
                <a:spcPts val="0"/>
              </a:spcAft>
              <a:buNone/>
            </a:pPr>
            <a:r>
              <a:rPr lang="es-419"/>
              <a:t>Los algoritmos funcionan correctamente en grafos desconectados.</a:t>
            </a:r>
            <a:endParaRPr/>
          </a:p>
          <a:p>
            <a:pPr indent="0" lvl="0" marL="0" rtl="0" algn="l">
              <a:spcBef>
                <a:spcPts val="1200"/>
              </a:spcBef>
              <a:spcAft>
                <a:spcPts val="0"/>
              </a:spcAft>
              <a:buNone/>
            </a:pPr>
            <a:r>
              <a:rPr lang="es-419"/>
              <a:t>El proyecto no incluye animación paso a paso, lo que limita la comprensión visual de los algoritmos.</a:t>
            </a:r>
            <a:endParaRPr/>
          </a:p>
          <a:p>
            <a:pPr indent="0" lvl="0" marL="0" rtl="0" algn="l">
              <a:spcBef>
                <a:spcPts val="1200"/>
              </a:spcBef>
              <a:spcAft>
                <a:spcPts val="1200"/>
              </a:spcAft>
              <a:buNone/>
            </a:pPr>
            <a:r>
              <a:rPr lang="es-419"/>
              <a:t>La integración de SFML y C++ es viable y permite aplicaciones gráficas interactivas con restricciones de memoria.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Recomendaciones</a:t>
            </a:r>
            <a:endParaRPr/>
          </a:p>
        </p:txBody>
      </p:sp>
      <p:sp>
        <p:nvSpPr>
          <p:cNvPr id="219" name="Google Shape;219;p2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 proyectos con cálculos geométricos, siempre que sea posible, utilizar distancias al cuadrado para evitar operaciones costosas.</a:t>
            </a:r>
            <a:endParaRPr/>
          </a:p>
          <a:p>
            <a:pPr indent="0" lvl="0" marL="0" rtl="0" algn="l">
              <a:spcBef>
                <a:spcPts val="1200"/>
              </a:spcBef>
              <a:spcAft>
                <a:spcPts val="0"/>
              </a:spcAft>
              <a:buNone/>
            </a:pPr>
            <a:r>
              <a:rPr lang="es-419"/>
              <a:t>Ajustar el máximo de conexiones según el número de nodos puede ayudar a mantener el grafo visualmente claro.</a:t>
            </a:r>
            <a:endParaRPr/>
          </a:p>
          <a:p>
            <a:pPr indent="0" lvl="0" marL="0" rtl="0" algn="l">
              <a:spcBef>
                <a:spcPts val="1200"/>
              </a:spcBef>
              <a:spcAft>
                <a:spcPts val="0"/>
              </a:spcAft>
              <a:buNone/>
            </a:pPr>
            <a:r>
              <a:rPr lang="es-419"/>
              <a:t>Adoptar el uso  de inmutabilidad en otros proyectos donde se necesite permite preservar el estado original de un objeto o variable (en este caso, el grafo).</a:t>
            </a:r>
            <a:endParaRPr/>
          </a:p>
          <a:p>
            <a:pPr indent="0" lvl="0" marL="0" rtl="0" algn="l">
              <a:spcBef>
                <a:spcPts val="1200"/>
              </a:spcBef>
              <a:spcAft>
                <a:spcPts val="0"/>
              </a:spcAft>
              <a:buNone/>
            </a:pPr>
            <a:r>
              <a:rPr lang="es-419"/>
              <a:t>Es importante implementar una versión genérica de heap para reutilizar en otros contextos.</a:t>
            </a:r>
            <a:endParaRPr/>
          </a:p>
          <a:p>
            <a:pPr indent="0" lvl="0" marL="0" rtl="0" algn="l">
              <a:spcBef>
                <a:spcPts val="1200"/>
              </a:spcBef>
              <a:spcAft>
                <a:spcPts val="1200"/>
              </a:spcAft>
              <a:buNone/>
            </a:pPr>
            <a:r>
              <a:rPr lang="es-419"/>
              <a:t>Siempre implementar compresión de camino y unión por rango en estructuras de conjuntos disjuntos (FindUnion).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Recomendaciones</a:t>
            </a:r>
            <a:endParaRPr/>
          </a:p>
        </p:txBody>
      </p:sp>
      <p:sp>
        <p:nvSpPr>
          <p:cNvPr id="225" name="Google Shape;225;p2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Cargar la fuente una sola vez al inicio del programa, no cada vez que se dibuja la pantalla.</a:t>
            </a:r>
            <a:endParaRPr/>
          </a:p>
          <a:p>
            <a:pPr indent="0" lvl="0" marL="0" rtl="0" algn="l">
              <a:spcBef>
                <a:spcPts val="1200"/>
              </a:spcBef>
              <a:spcAft>
                <a:spcPts val="0"/>
              </a:spcAft>
              <a:buNone/>
            </a:pPr>
            <a:r>
              <a:rPr lang="es-419"/>
              <a:t>Permitir al usuario ajustar la sensibilidad de selección desde el código (o hacerla proporcional a la cantidad y tamaño de los nodos), mejorando la experiencia de usuario.</a:t>
            </a:r>
            <a:endParaRPr/>
          </a:p>
          <a:p>
            <a:pPr indent="0" lvl="0" marL="0" rtl="0" algn="l">
              <a:spcBef>
                <a:spcPts val="1200"/>
              </a:spcBef>
              <a:spcAft>
                <a:spcPts val="0"/>
              </a:spcAft>
              <a:buNone/>
            </a:pPr>
            <a:r>
              <a:rPr lang="es-419"/>
              <a:t>Al ejecutar un algoritmo, mostrar un mensaje al usuario si el grafo es desconectado, para que sepa que el árbol no cubre todos los nodos.</a:t>
            </a:r>
            <a:endParaRPr/>
          </a:p>
          <a:p>
            <a:pPr indent="0" lvl="0" marL="0" rtl="0" algn="l">
              <a:spcBef>
                <a:spcPts val="1200"/>
              </a:spcBef>
              <a:spcAft>
                <a:spcPts val="0"/>
              </a:spcAft>
              <a:buNone/>
            </a:pPr>
            <a:r>
              <a:rPr lang="es-419"/>
              <a:t>Para futuras versiones, agregar un modo "paso a paso" con retrasos programados para observar la evolución de los algoritmos.</a:t>
            </a:r>
            <a:endParaRPr/>
          </a:p>
          <a:p>
            <a:pPr indent="0" lvl="0" marL="0" rtl="0" algn="l">
              <a:spcBef>
                <a:spcPts val="1200"/>
              </a:spcBef>
              <a:spcAft>
                <a:spcPts val="1200"/>
              </a:spcAft>
              <a:buNone/>
            </a:pPr>
            <a:r>
              <a:rPr lang="es-419"/>
              <a:t>Implementar un sistema de cámara que </a:t>
            </a:r>
            <a:r>
              <a:rPr lang="es-419"/>
              <a:t>permite</a:t>
            </a:r>
            <a:r>
              <a:rPr lang="es-419"/>
              <a:t> zoom y desplazamiento sobre el grafo.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